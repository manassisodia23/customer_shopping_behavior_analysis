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3657600" cy="18288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7F4EF"/>
                </a:solidFill>
                <a:latin typeface="Arial"/>
              </a:defRPr>
            </a:pPr>
            <a:r>
              <a:t>EXECUTIVE PRESENTATION</a:t>
            </a:r>
          </a:p>
          <a:p>
            <a:pPr>
              <a:defRPr sz="4400" b="0">
                <a:solidFill>
                  <a:srgbClr val="FFFFFF"/>
                </a:solidFill>
                <a:latin typeface="Arial"/>
              </a:defRPr>
            </a:pPr>
            <a:r>
              <a:t>Customer Shopping Behavior</a:t>
            </a:r>
            <a:br/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4A373"/>
                </a:solidFill>
                <a:latin typeface="Arial"/>
              </a:defRPr>
            </a:pPr>
            <a:r>
              <a:t>DUNE ANALYTICS  •  2026 STRATEGIC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8A5A36"/>
                </a:solidFill>
                <a:latin typeface="Arial"/>
              </a:defRPr>
            </a:pPr>
            <a:r>
              <a:t>Project Overview &amp; Objectives</a:t>
            </a:r>
          </a:p>
          <a:p>
            <a:pPr>
              <a:spcBef>
                <a:spcPts val="400"/>
              </a:spcBef>
              <a:defRPr sz="1000">
                <a:solidFill>
                  <a:srgbClr val="A3978E"/>
                </a:solidFill>
                <a:latin typeface="Arial"/>
              </a:defRPr>
            </a:pPr>
            <a:r>
              <a:t>CONTEXT &amp; ANALYTICAL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8A5A36"/>
                </a:solidFill>
              </a:defRPr>
            </a:pPr>
            <a:r>
              <a:t>Strategic Goal</a:t>
            </a:r>
          </a:p>
          <a:p>
            <a:pPr>
              <a:defRPr sz="1300">
                <a:solidFill>
                  <a:srgbClr val="2C2520"/>
                </a:solidFill>
              </a:defRPr>
            </a:pPr>
            <a:r>
              <a:t>To uncover deep insights into customer spending patterns, operational metrics, product cohort preferences, and subscription program behaviors in order to guide structural revenue-generating corporate choices.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5029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b="1" sz="1300">
                <a:solidFill>
                  <a:srgbClr val="8A5A36"/>
                </a:solidFill>
              </a:defRPr>
            </a:pPr>
            <a:r>
              <a:t>Data Framework Summary</a:t>
            </a:r>
          </a:p>
          <a:p>
            <a:pPr>
              <a:spcBef>
                <a:spcPts val="600"/>
              </a:spcBef>
              <a:defRPr sz="1100">
                <a:solidFill>
                  <a:srgbClr val="2C2520"/>
                </a:solidFill>
              </a:defRPr>
            </a:pPr>
            <a:r>
              <a:t>Analyzed transaction behaviors across 3,900 purchases capturing 18 critical parameters spanning consumer profiles, logistics types, and review distributions.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8A5A36"/>
                </a:solidFill>
              </a:defRPr>
            </a:pPr>
            <a:r>
              <a:t>Python EDA Methodology</a:t>
            </a:r>
          </a:p>
          <a:p>
            <a:pPr>
              <a:spcAft>
                <a:spcPts val="800"/>
              </a:spcAft>
              <a:defRPr sz="1200">
                <a:solidFill>
                  <a:srgbClr val="2C2520"/>
                </a:solidFill>
              </a:defRPr>
            </a:pPr>
            <a:r>
              <a:t>• Data Exploration: Initial parsing executed natively utilizing pandas framework frameworks via structural analysis.</a:t>
            </a:r>
          </a:p>
          <a:p>
            <a:pPr>
              <a:spcAft>
                <a:spcPts val="800"/>
              </a:spcAft>
              <a:defRPr sz="1200">
                <a:solidFill>
                  <a:srgbClr val="2C2520"/>
                </a:solidFill>
              </a:defRPr>
            </a:pPr>
            <a:r>
              <a:t>• Data Scrubbing: Identified and cleanly handled 37 missing fields in Review Ratings column leveraging specific category medians.</a:t>
            </a:r>
          </a:p>
          <a:p>
            <a:pPr>
              <a:spcAft>
                <a:spcPts val="800"/>
              </a:spcAft>
              <a:defRPr sz="1200">
                <a:solidFill>
                  <a:srgbClr val="2C2520"/>
                </a:solidFill>
              </a:defRPr>
            </a:pPr>
            <a:r>
              <a:t>• Feature Engineering: Created structural age grouping brackets and normalized parameters into standardized snake_case properties.</a:t>
            </a:r>
          </a:p>
          <a:p>
            <a:pPr>
              <a:spcAft>
                <a:spcPts val="800"/>
              </a:spcAft>
              <a:defRPr sz="1200">
                <a:solidFill>
                  <a:srgbClr val="2C2520"/>
                </a:solidFill>
              </a:defRPr>
            </a:pPr>
            <a:r>
              <a:t>• Warehouse Injection: Cleanly structured processing pipeline to seed local transaction analytical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3978E"/>
                </a:solidFill>
                <a:latin typeface="Arial"/>
              </a:defRPr>
            </a:pPr>
            <a:r>
              <a:t>Customer Shopping Behavior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978E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8A5A36"/>
                </a:solidFill>
                <a:latin typeface="Arial"/>
              </a:defRPr>
            </a:pPr>
            <a:r>
              <a:t>Macro Performance Matrix</a:t>
            </a:r>
          </a:p>
          <a:p>
            <a:pPr>
              <a:spcBef>
                <a:spcPts val="400"/>
              </a:spcBef>
              <a:defRPr sz="1000">
                <a:solidFill>
                  <a:srgbClr val="A3978E"/>
                </a:solidFill>
                <a:latin typeface="Arial"/>
              </a:defRPr>
            </a:pPr>
            <a:r>
              <a:t>GLOBAL KPI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8A5A36"/>
                </a:solidFill>
              </a:defRPr>
            </a:pPr>
            <a:r>
              <a:t>3.9K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3978E"/>
                </a:solidFill>
              </a:defRPr>
            </a:pPr>
            <a:r>
              <a:t>TOTAL CUSTOMER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2520"/>
                </a:solidFill>
              </a:defRPr>
            </a:pPr>
            <a:r>
              <a:t>Expansive unique distribution baseline spanning 50 state geographical centers.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0116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8A5A36"/>
                </a:solidFill>
              </a:defRPr>
            </a:pPr>
            <a:r>
              <a:t>$59.76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1089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3978E"/>
                </a:solidFill>
              </a:defRPr>
            </a:pPr>
            <a:r>
              <a:t>AVERAGE CART 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474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2520"/>
                </a:solidFill>
              </a:defRPr>
            </a:pPr>
            <a:r>
              <a:t>Highly reliable transaction median tracking with standard deviation spikes of $23.69.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011680"/>
            <a:ext cx="32918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03120"/>
            <a:ext cx="3291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8A5A36"/>
                </a:solidFill>
              </a:defRPr>
            </a:pPr>
            <a:r>
              <a:t>3.75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1089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3978E"/>
                </a:solidFill>
              </a:defRPr>
            </a:pPr>
            <a:r>
              <a:t>AVERAGE PRODUCT 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74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2520"/>
                </a:solidFill>
              </a:defRPr>
            </a:pPr>
            <a:r>
              <a:t>Normalized client metric clustered firmly between 2.5 and 5.0 satisfaction limits.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10728655" cy="91440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200" b="1">
                <a:solidFill>
                  <a:srgbClr val="2C2520"/>
                </a:solidFill>
              </a:defRPr>
            </a:pPr>
            <a:r>
              <a:t>Macro Strategic Revenue Insight: Total core operational volume accounts for $233,081 in pipeline tracking. Transaction spending indices indicate strong gender demographic allocation splits: Male consumers account for $157,890 of total transactional volume, compared to Female cohorts tracking at $75,191.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3978E"/>
                </a:solidFill>
                <a:latin typeface="Arial"/>
              </a:defRPr>
            </a:pPr>
            <a:r>
              <a:t>Customer Shopping Behavior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978E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8A5A36"/>
                </a:solidFill>
                <a:latin typeface="Arial"/>
              </a:defRPr>
            </a:pPr>
            <a:r>
              <a:t>Revenue Contribution by Age Cohort</a:t>
            </a:r>
          </a:p>
          <a:p>
            <a:pPr>
              <a:spcBef>
                <a:spcPts val="400"/>
              </a:spcBef>
              <a:defRPr sz="1000">
                <a:solidFill>
                  <a:srgbClr val="A3978E"/>
                </a:solidFill>
                <a:latin typeface="Arial"/>
              </a:defRPr>
            </a:pPr>
            <a:r>
              <a:t>DEMOGRAPHIC SEGMENT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2520"/>
                </a:solidFill>
              </a:defRPr>
            </a:pPr>
            <a:r>
              <a:t>Structured performance metrics spanning biological lifecycle cohorts uncover unusual stability and balance across our core pipeline, led marginally by the Young Adult tier: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A5A36"/>
                </a:solidFill>
              </a:defRPr>
            </a:pPr>
            <a:r>
              <a:t>AGE SEGMENT BRACKET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3774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8A5A36"/>
                </a:solidFill>
              </a:defRPr>
            </a:pPr>
            <a:r>
              <a:t>CONSUMER CORE CATEGORIZATION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377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A5A36"/>
                </a:solidFill>
              </a:defRPr>
            </a:pPr>
            <a:r>
              <a:t>TOTAL PLATFORM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23774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A5A36"/>
                </a:solidFill>
              </a:defRPr>
            </a:pPr>
            <a:r>
              <a:t>PERCENTAGE SHARE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10728655" cy="18288"/>
          </a:xfrm>
          <a:prstGeom prst="rect">
            <a:avLst/>
          </a:prstGeom>
          <a:solidFill>
            <a:srgbClr val="8A5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C2520"/>
                </a:solidFill>
              </a:defRPr>
            </a:pPr>
            <a:r>
              <a:t>Young Adult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718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C2520"/>
                </a:solidFill>
              </a:defRPr>
            </a:pPr>
            <a:r>
              <a:t>Primary trend-driven target customer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71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C2520"/>
                </a:solidFill>
              </a:defRPr>
            </a:pPr>
            <a:r>
              <a:t>$62,143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9718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C2520"/>
                </a:solidFill>
              </a:defRPr>
            </a:pPr>
            <a:r>
              <a:t>26.6%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20440"/>
            <a:ext cx="1072865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11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C2520"/>
                </a:solidFill>
              </a:defRPr>
            </a:pPr>
            <a:r>
              <a:t>Middle-aged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6118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C2520"/>
                </a:solidFill>
              </a:defRPr>
            </a:pPr>
            <a:r>
              <a:t>High-capacity independent professional cohort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611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C2520"/>
                </a:solidFill>
              </a:defRPr>
            </a:pPr>
            <a:r>
              <a:t>$59,197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61188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C2520"/>
                </a:solidFill>
              </a:defRPr>
            </a:pPr>
            <a:r>
              <a:t>25.4%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51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C2520"/>
                </a:solidFill>
              </a:defRPr>
            </a:pPr>
            <a:r>
              <a:t>Adult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251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C2520"/>
                </a:solidFill>
              </a:defRPr>
            </a:pPr>
            <a:r>
              <a:t>Standard volume scale household consumer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251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C2520"/>
                </a:solidFill>
              </a:defRPr>
            </a:pPr>
            <a:r>
              <a:t>$55,978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2519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C2520"/>
                </a:solidFill>
              </a:defRPr>
            </a:pPr>
            <a:r>
              <a:t>24.0%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00600"/>
            <a:ext cx="10728655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2C2520"/>
                </a:solidFill>
              </a:defRPr>
            </a:pPr>
            <a:r>
              <a:t>Senior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8920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2C2520"/>
                </a:solidFill>
              </a:defRPr>
            </a:pPr>
            <a:r>
              <a:t>Mature target tier with specific logistical preferences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8920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C2520"/>
                </a:solidFill>
              </a:defRPr>
            </a:pPr>
            <a:r>
              <a:t>$55,763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8920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C2520"/>
                </a:solidFill>
              </a:defRPr>
            </a:pPr>
            <a:r>
              <a:t>24.0%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3978E"/>
                </a:solidFill>
                <a:latin typeface="Arial"/>
              </a:defRPr>
            </a:pPr>
            <a:r>
              <a:t>Customer Shopping Behavior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978E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8A5A36"/>
                </a:solidFill>
                <a:latin typeface="Arial"/>
              </a:defRPr>
            </a:pPr>
            <a:r>
              <a:t>Subscription Segment Performance</a:t>
            </a:r>
          </a:p>
          <a:p>
            <a:pPr>
              <a:spcBef>
                <a:spcPts val="400"/>
              </a:spcBef>
              <a:defRPr sz="1000">
                <a:solidFill>
                  <a:srgbClr val="A3978E"/>
                </a:solidFill>
                <a:latin typeface="Arial"/>
              </a:defRPr>
            </a:pPr>
            <a:r>
              <a:t>SUBSCRIBERS VS. NON-SUBSCRIBERS DEEP-DIVE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5A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100" b="1">
                <a:solidFill>
                  <a:srgbClr val="A3978E"/>
                </a:solidFill>
              </a:defRPr>
            </a:pPr>
            <a:r>
              <a:t>SUBSCRIBER COHORT PROFILE (27% SHARE)</a:t>
            </a:r>
          </a:p>
          <a:p>
            <a:pPr>
              <a:spcBef>
                <a:spcPts val="400"/>
              </a:spcBef>
              <a:defRPr sz="2200" b="1">
                <a:solidFill>
                  <a:srgbClr val="8A5A36"/>
                </a:solidFill>
              </a:defRPr>
            </a:pPr>
            <a:r>
              <a:t>1,053 Verified Profiles</a:t>
            </a:r>
          </a:p>
          <a:p>
            <a:pPr>
              <a:spcBef>
                <a:spcPts val="1000"/>
              </a:spcBef>
              <a:defRPr sz="1200">
                <a:solidFill>
                  <a:srgbClr val="2C2520"/>
                </a:solidFill>
              </a:defRPr>
            </a:pPr>
            <a:r>
              <a:t>• Average Spend Allocation: $59.49</a:t>
            </a:r>
            <a:br/>
            <a:r>
              <a:t>• Total Tracked Pipeline Contribution: $62,645.00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535" y="182880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3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100" b="1">
                <a:solidFill>
                  <a:srgbClr val="A3978E"/>
                </a:solidFill>
              </a:defRPr>
            </a:pPr>
            <a:r>
              <a:t>NON-SUBSCRIBER COHORT PROFILE (73% SHARE)</a:t>
            </a:r>
          </a:p>
          <a:p>
            <a:pPr>
              <a:spcBef>
                <a:spcPts val="400"/>
              </a:spcBef>
              <a:defRPr sz="2200" b="1">
                <a:solidFill>
                  <a:srgbClr val="2C2520"/>
                </a:solidFill>
              </a:defRPr>
            </a:pPr>
            <a:r>
              <a:t>2,847 Verified Profiles</a:t>
            </a:r>
          </a:p>
          <a:p>
            <a:pPr>
              <a:spcBef>
                <a:spcPts val="1000"/>
              </a:spcBef>
              <a:defRPr sz="1200">
                <a:solidFill>
                  <a:srgbClr val="2C2520"/>
                </a:solidFill>
              </a:defRPr>
            </a:pPr>
            <a:r>
              <a:t>• Average Spend Allocation: $59.87</a:t>
            </a:r>
            <a:br/>
            <a:r>
              <a:t>• Total Tracked Pipeline Contribution: $170,436.00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10728655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8A5A36"/>
                </a:solidFill>
              </a:defRPr>
            </a:pPr>
            <a:r>
              <a:t>Crucial Behavioral System Insight</a:t>
            </a:r>
          </a:p>
          <a:p>
            <a:pPr>
              <a:spcBef>
                <a:spcPts val="400"/>
              </a:spcBef>
              <a:defRPr sz="1200">
                <a:solidFill>
                  <a:srgbClr val="2C2520"/>
                </a:solidFill>
              </a:defRPr>
            </a:pPr>
            <a:r>
              <a:t>Data metrics reveal that average order values remain identical between program subscribers ($59.49) and non-subscribers ($59.87). This clearly signals that the current model functions strictly as an engagement layer rather than a direct basket expander. Retaining high-frequency buyers remains pivotal, with a substantial portion (958 repeat purchasers tracking &gt;5 orders) choosing to enroll.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3978E"/>
                </a:solidFill>
                <a:latin typeface="Arial"/>
              </a:defRPr>
            </a:pPr>
            <a:r>
              <a:t>Customer Shopping Behavior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978E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8A5A36"/>
                </a:solidFill>
                <a:latin typeface="Arial"/>
              </a:defRPr>
            </a:pPr>
            <a:r>
              <a:t>Product Analytics Portfolio</a:t>
            </a:r>
          </a:p>
          <a:p>
            <a:pPr>
              <a:spcBef>
                <a:spcPts val="400"/>
              </a:spcBef>
              <a:defRPr sz="1000">
                <a:solidFill>
                  <a:srgbClr val="A3978E"/>
                </a:solidFill>
                <a:latin typeface="Arial"/>
              </a:defRPr>
            </a:pPr>
            <a:r>
              <a:t>QUALITY BENCHMARKS &amp; CATEGORY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A5A36"/>
                </a:solidFill>
              </a:defRPr>
            </a:pPr>
            <a:r>
              <a:t>TOP 5 PRODUCTS BY RATING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3978E"/>
                </a:solidFill>
              </a:defRPr>
            </a:pPr>
            <a:r>
              <a:t>ITEM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194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3978E"/>
                </a:solidFill>
              </a:defRPr>
            </a:pPr>
            <a:r>
              <a:t>SCORE 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Gloves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560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A5A36"/>
                </a:solidFill>
              </a:defRPr>
            </a:pPr>
            <a:r>
              <a:t>3.86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Sandals 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A5A36"/>
                </a:solidFill>
              </a:defRPr>
            </a:pPr>
            <a:r>
              <a:t>3.84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Boots Footwear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474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A5A36"/>
                </a:solidFill>
              </a:defRPr>
            </a:pPr>
            <a:r>
              <a:t>3.82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Hat Accessories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931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A5A36"/>
                </a:solidFill>
              </a:defRPr>
            </a:pPr>
            <a:r>
              <a:t>3.80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Skirt Lineup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3891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A5A36"/>
                </a:solidFill>
              </a:defRPr>
            </a:pPr>
            <a:r>
              <a:t>3.78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9535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A5A36"/>
                </a:solidFill>
              </a:defRPr>
            </a:pPr>
            <a:r>
              <a:t>TOP VOLUME PRODUCTS BY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535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3978E"/>
                </a:solidFill>
              </a:defRPr>
            </a:pPr>
            <a:r>
              <a:t>CATEGORY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215" y="2194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3978E"/>
                </a:solidFill>
              </a:defRPr>
            </a:pPr>
            <a:r>
              <a:t>PRODUCT WINNER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21945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3978E"/>
                </a:solidFill>
              </a:defRPr>
            </a:pPr>
            <a:r>
              <a:t>TOTAL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9535" y="2560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Accessories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215" y="2560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A5A36"/>
                </a:solidFill>
              </a:defRPr>
            </a:pPr>
            <a:r>
              <a:t>171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535" y="30175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Clothing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1215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Blouse / Pants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30175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A5A36"/>
                </a:solidFill>
              </a:defRPr>
            </a:pPr>
            <a:r>
              <a:t>171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9535" y="34747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Footwear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1215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Sandals 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0015" y="3474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A5A36"/>
                </a:solidFill>
              </a:defRPr>
            </a:pPr>
            <a:r>
              <a:t>160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9535" y="3931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Outerwear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1215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Jacket Structural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3931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8A5A36"/>
                </a:solidFill>
              </a:defRPr>
            </a:pPr>
            <a:r>
              <a:t>163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3978E"/>
                </a:solidFill>
                <a:latin typeface="Arial"/>
              </a:defRPr>
            </a:pPr>
            <a:r>
              <a:t>Customer Shopping Behavior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978E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8A5A36"/>
                </a:solidFill>
                <a:latin typeface="Arial"/>
              </a:defRPr>
            </a:pPr>
            <a:r>
              <a:t>Promotion &amp; Logistics Vulnerability</a:t>
            </a:r>
          </a:p>
          <a:p>
            <a:pPr>
              <a:spcBef>
                <a:spcPts val="400"/>
              </a:spcBef>
              <a:defRPr sz="1000">
                <a:solidFill>
                  <a:srgbClr val="A3978E"/>
                </a:solidFill>
                <a:latin typeface="Arial"/>
              </a:defRPr>
            </a:pPr>
            <a:r>
              <a:t>DISCOUNT RELIANCE &amp; DELIVERY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A5A36"/>
                </a:solidFill>
              </a:defRPr>
            </a:pPr>
            <a:r>
              <a:t>Top 5 Promotion-Dependent SKUs</a:t>
            </a:r>
          </a:p>
          <a:p>
            <a:pPr>
              <a:spcAft>
                <a:spcPts val="1200"/>
              </a:spcAft>
              <a:defRPr sz="1200">
                <a:solidFill>
                  <a:srgbClr val="2C2520"/>
                </a:solidFill>
              </a:defRPr>
            </a:pPr>
            <a:r>
              <a:t>Specific inventory categories show severe vulnerability to voucher drops, indicating core gross margins face systemic exposure:</a:t>
            </a:r>
          </a:p>
          <a:p>
            <a:pPr>
              <a:spcAft>
                <a:spcPts val="400"/>
              </a:spcAft>
              <a:defRPr sz="1100" b="1">
                <a:solidFill>
                  <a:srgbClr val="2C2520"/>
                </a:solidFill>
              </a:defRPr>
            </a:pPr>
            <a:r>
              <a:t>• Headwear Accessories (Hats): </a:t>
            </a:r>
            <a:r>
              <a:rPr b="0">
                <a:solidFill>
                  <a:srgbClr val="2C2520"/>
                </a:solidFill>
              </a:rPr>
              <a:t>50.00% absolute promotional purchase allocation</a:t>
            </a:r>
          </a:p>
          <a:p>
            <a:pPr>
              <a:spcAft>
                <a:spcPts val="400"/>
              </a:spcAft>
              <a:defRPr sz="1100" b="1">
                <a:solidFill>
                  <a:srgbClr val="2C2520"/>
                </a:solidFill>
              </a:defRPr>
            </a:pPr>
            <a:r>
              <a:t>• Athletic Footwear (Sneakers): </a:t>
            </a:r>
            <a:r>
              <a:rPr b="0">
                <a:solidFill>
                  <a:srgbClr val="2C2520"/>
                </a:solidFill>
              </a:rPr>
              <a:t>49.66% interactive discount dependency share</a:t>
            </a:r>
          </a:p>
          <a:p>
            <a:pPr>
              <a:spcAft>
                <a:spcPts val="400"/>
              </a:spcAft>
              <a:defRPr sz="1100" b="1">
                <a:solidFill>
                  <a:srgbClr val="2C2520"/>
                </a:solidFill>
              </a:defRPr>
            </a:pPr>
            <a:r>
              <a:t>• Heavy Outerwear (Coats): </a:t>
            </a:r>
            <a:r>
              <a:rPr b="0">
                <a:solidFill>
                  <a:srgbClr val="2C2520"/>
                </a:solidFill>
              </a:rPr>
              <a:t>49.07% pipeline promotional exposure index</a:t>
            </a:r>
          </a:p>
          <a:p>
            <a:pPr>
              <a:spcAft>
                <a:spcPts val="400"/>
              </a:spcAft>
              <a:defRPr sz="1100" b="1">
                <a:solidFill>
                  <a:srgbClr val="2C2520"/>
                </a:solidFill>
              </a:defRPr>
            </a:pPr>
            <a:r>
              <a:t>• Seasonal Tops (Sweaters): </a:t>
            </a:r>
            <a:r>
              <a:rPr b="0">
                <a:solidFill>
                  <a:srgbClr val="2C2520"/>
                </a:solidFill>
              </a:rPr>
              <a:t>48.17% verified promo tracking utilization</a:t>
            </a:r>
          </a:p>
          <a:p>
            <a:pPr>
              <a:spcAft>
                <a:spcPts val="400"/>
              </a:spcAft>
              <a:defRPr sz="1100" b="1">
                <a:solidFill>
                  <a:srgbClr val="2C2520"/>
                </a:solidFill>
              </a:defRPr>
            </a:pPr>
            <a:r>
              <a:t>• Tailored Bottoms (Pants): </a:t>
            </a:r>
            <a:r>
              <a:rPr b="0">
                <a:solidFill>
                  <a:srgbClr val="2C2520"/>
                </a:solidFill>
              </a:rPr>
              <a:t>47.37% verified structural coupon conversion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2011680"/>
            <a:ext cx="45720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00" b="1">
                <a:solidFill>
                  <a:srgbClr val="A3978E"/>
                </a:solidFill>
              </a:defRPr>
            </a:pPr>
            <a:r>
              <a:t>EXPRESS LOGISTICS PERFORMANCE</a:t>
            </a:r>
          </a:p>
          <a:p>
            <a:pPr>
              <a:spcBef>
                <a:spcPts val="400"/>
              </a:spcBef>
              <a:defRPr sz="2000" b="1">
                <a:solidFill>
                  <a:srgbClr val="8A5A36"/>
                </a:solidFill>
              </a:defRPr>
            </a:pPr>
            <a:r>
              <a:t>$60.48 Average Order</a:t>
            </a:r>
          </a:p>
          <a:p>
            <a:pPr>
              <a:spcBef>
                <a:spcPts val="400"/>
              </a:spcBef>
              <a:defRPr sz="1100"/>
            </a:pPr>
            <a:r>
              <a:t>Premium fulfillment correlates directly with higher short-term cart spend profiles.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3931920"/>
            <a:ext cx="45720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A3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000" b="1">
                <a:solidFill>
                  <a:srgbClr val="A3978E"/>
                </a:solidFill>
              </a:defRPr>
            </a:pPr>
            <a:r>
              <a:t>STANDARD TRACK LOGISTICS</a:t>
            </a:r>
          </a:p>
          <a:p>
            <a:pPr>
              <a:spcBef>
                <a:spcPts val="400"/>
              </a:spcBef>
              <a:defRPr sz="2000" b="1">
                <a:solidFill>
                  <a:srgbClr val="2C2520"/>
                </a:solidFill>
              </a:defRPr>
            </a:pPr>
            <a:r>
              <a:t>$58.46 Average Order</a:t>
            </a:r>
          </a:p>
          <a:p>
            <a:pPr>
              <a:spcBef>
                <a:spcPts val="400"/>
              </a:spcBef>
              <a:defRPr sz="1100"/>
            </a:pPr>
            <a:r>
              <a:t>Maintains stable baseline volume margins with slightly decreased overall ticket pricing.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3978E"/>
                </a:solidFill>
                <a:latin typeface="Arial"/>
              </a:defRPr>
            </a:pPr>
            <a:r>
              <a:t>Customer Shopping Behavior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978E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0">
                <a:solidFill>
                  <a:srgbClr val="8A5A36"/>
                </a:solidFill>
                <a:latin typeface="Arial"/>
              </a:defRPr>
            </a:pPr>
            <a:r>
              <a:t>Strategic Corporate Roadmap</a:t>
            </a:r>
          </a:p>
          <a:p>
            <a:pPr>
              <a:spcBef>
                <a:spcPts val="400"/>
              </a:spcBef>
              <a:defRPr sz="1000">
                <a:solidFill>
                  <a:srgbClr val="A3978E"/>
                </a:solidFill>
                <a:latin typeface="Arial"/>
              </a:defRPr>
            </a:pPr>
            <a:r>
              <a:t>ACTIONABLE PERFORMANCE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200" b="1">
                <a:solidFill>
                  <a:srgbClr val="8A5A36"/>
                </a:solidFill>
              </a:defRPr>
            </a:pPr>
            <a:r>
              <a:t>1. Restructure Subscription Value Proposition</a:t>
            </a:r>
          </a:p>
          <a:p>
            <a:pPr>
              <a:spcBef>
                <a:spcPts val="400"/>
              </a:spcBef>
              <a:defRPr sz="1050">
                <a:solidFill>
                  <a:srgbClr val="2C2520"/>
                </a:solidFill>
              </a:defRPr>
            </a:pPr>
            <a:r>
              <a:t>Since active programmatic subscribers generate identical ticket footprints as open non-subscribers ($59.49 vs $59.87), immediately shift enrollment incentives away from simple delivery waivers toward dynamic basket volume tiering multipliers or primary catalog launch access windows.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9535" y="182880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200" b="1">
                <a:solidFill>
                  <a:srgbClr val="8A5A36"/>
                </a:solidFill>
              </a:defRPr>
            </a:pPr>
            <a:r>
              <a:t>2. Establish Structural Discount Guardrails</a:t>
            </a:r>
          </a:p>
          <a:p>
            <a:pPr>
              <a:spcBef>
                <a:spcPts val="400"/>
              </a:spcBef>
              <a:defRPr sz="1050">
                <a:solidFill>
                  <a:srgbClr val="2C2520"/>
                </a:solidFill>
              </a:defRPr>
            </a:pPr>
            <a:r>
              <a:t>Hats, Sneakers, and Coats show extreme promotional dependency near 50%. Deploy system limits on generic wide-distribution voucher injections and replace them with personalized behavioral milestones to safeguard core operational margins.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3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200" b="1">
                <a:solidFill>
                  <a:srgbClr val="8A5A36"/>
                </a:solidFill>
              </a:defRPr>
            </a:pPr>
            <a:r>
              <a:t>3. Targeted Expansion of Male Demographics</a:t>
            </a:r>
          </a:p>
          <a:p>
            <a:pPr>
              <a:spcBef>
                <a:spcPts val="400"/>
              </a:spcBef>
              <a:defRPr sz="1050">
                <a:solidFill>
                  <a:srgbClr val="2C2520"/>
                </a:solidFill>
              </a:defRPr>
            </a:pPr>
            <a:r>
              <a:t>Male transaction volume accounts for a highly dominant $157,890 relative to Female spend at $75,191. Funnel programmatic marketing budgets heavily toward higher-converting male sub-segments like Outerwear and high-tier Accessories.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9535" y="402336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39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200" b="1">
                <a:solidFill>
                  <a:srgbClr val="8A5A36"/>
                </a:solidFill>
              </a:defRPr>
            </a:pPr>
            <a:r>
              <a:t>4. Implement Lifetime Value Cohort Funnels</a:t>
            </a:r>
          </a:p>
          <a:p>
            <a:pPr>
              <a:spcBef>
                <a:spcPts val="400"/>
              </a:spcBef>
              <a:defRPr sz="1050">
                <a:solidFill>
                  <a:srgbClr val="2C2520"/>
                </a:solidFill>
              </a:defRPr>
            </a:pPr>
            <a:r>
              <a:t>Capitalize on our 701 returning and 3,116 high-affinity loyal consumer bases. Pilot localized loyalty systems integrating free express logistics tiers explicitly linked to high order frequency targets to stabilize long-term retention benchmarks.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3978E"/>
                </a:solidFill>
                <a:latin typeface="Arial"/>
              </a:defRPr>
            </a:pPr>
            <a:r>
              <a:t>Customer Shopping Behavior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978E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1200">
                <a:solidFill>
                  <a:srgbClr val="D4A373"/>
                </a:solidFill>
                <a:latin typeface="Arial"/>
              </a:defRPr>
            </a:pPr>
            <a:r>
              <a:t>QUESTIONS &amp; ANSWERS SESSION</a:t>
            </a:r>
          </a:p>
          <a:p>
            <a:pPr algn="ctr">
              <a:spcBef>
                <a:spcPts val="2400"/>
              </a:spcBef>
              <a:defRPr sz="1000">
                <a:solidFill>
                  <a:srgbClr val="A3978E"/>
                </a:solidFill>
                <a:latin typeface="Arial"/>
              </a:defRPr>
            </a:pPr>
            <a:r>
              <a:t>Analytical presentation compiled via automated corporate pipeline frameworks.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3978E"/>
                </a:solidFill>
              </a:defRPr>
            </a:pPr>
            <a:r>
              <a:t>Customer Shopping Behavior Analysis  |  Executive Presentation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217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3978E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